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Outfit ExtraBold"/>
      <p:bold r:id="rId12"/>
    </p:embeddedFont>
    <p:embeddedFont>
      <p:font typeface="Plus Jakarta Sans"/>
      <p:bold r:id="rId13"/>
      <p:boldItalic r:id="rId14"/>
    </p:embeddedFont>
    <p:embeddedFont>
      <p:font typeface="Outfit"/>
      <p:bold r:id="rId15"/>
    </p:embeddedFont>
    <p:embeddedFont>
      <p:font typeface="Plus Jakarta Sans SemiBold"/>
      <p:regular r:id="rId16"/>
      <p:bold r:id="rId17"/>
      <p:italic r:id="rId18"/>
      <p:boldItalic r:id="rId19"/>
    </p:embeddedFont>
    <p:embeddedFont>
      <p:font typeface="Outfit SemiBo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utfitSemiBold-bold.fntdata"/><Relationship Id="rId13" Type="http://schemas.openxmlformats.org/officeDocument/2006/relationships/font" Target="fonts/PlusJakartaSans-bold.fntdata"/><Relationship Id="rId12" Type="http://schemas.openxmlformats.org/officeDocument/2006/relationships/font" Target="fonts/Outfit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utfit-bold.fntdata"/><Relationship Id="rId14" Type="http://schemas.openxmlformats.org/officeDocument/2006/relationships/font" Target="fonts/PlusJakartaSans-boldItalic.fntdata"/><Relationship Id="rId17" Type="http://schemas.openxmlformats.org/officeDocument/2006/relationships/font" Target="fonts/PlusJakartaSansSemiBold-bold.fntdata"/><Relationship Id="rId16" Type="http://schemas.openxmlformats.org/officeDocument/2006/relationships/font" Target="fonts/PlusJakartaSans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33500" y="1524000"/>
            <a:ext cx="95250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B"/>
                </a:solidFill>
                <a:highlight>
                  <a:srgbClr val="EEF2F6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Interactive Lab</a:t>
            </a:r>
            <a:endParaRPr b="1" sz="1100">
              <a:solidFill>
                <a:srgbClr val="1E293B"/>
              </a:solidFill>
              <a:highlight>
                <a:srgbClr val="EEF2F6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2100"/>
              </a:spcBef>
              <a:spcAft>
                <a:spcPts val="0"/>
              </a:spcAft>
              <a:buNone/>
            </a:pPr>
            <a:r>
              <a:rPr b="0" lang="en-US" sz="5200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Step-by-Step Instructions</a:t>
            </a:r>
            <a:endParaRPr b="0" sz="5200">
              <a:solidFill>
                <a:srgbClr val="0F172A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1D4ED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Hands-On Practice Exercise</a:t>
            </a:r>
            <a:endParaRPr b="0" sz="3200">
              <a:solidFill>
                <a:srgbClr val="1D4ED8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ctr">
              <a:spcBef>
                <a:spcPts val="21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structured workflow for implementing source-grounded pedagogy using NotebookLM.</a:t>
            </a:r>
            <a:endParaRPr b="0" sz="16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86" name="Google Shape;86;p13" title="KLU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0638" y="566647"/>
            <a:ext cx="1490725" cy="14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71500" y="4288914"/>
            <a:ext cx="4953000" cy="1047900"/>
          </a:xfrm>
          <a:prstGeom prst="roundRect">
            <a:avLst>
              <a:gd fmla="val 10909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6096000" y="1524000"/>
            <a:ext cx="5524500" cy="4000500"/>
            <a:chOff x="0" y="0"/>
            <a:chExt cx="5524500" cy="4000500"/>
          </a:xfrm>
        </p:grpSpPr>
        <p:pic>
          <p:nvPicPr>
            <p:cNvPr descr="A clean, modern isometric vector illustration of a digital learning workspace, showcasing a laptop screen with structured workflow nodes, surrounded by abstract geometric data streams, styled in professional deep blues and clean whites." id="94" name="Google Shape;94;p14"/>
            <p:cNvPicPr preferRelativeResize="0"/>
            <p:nvPr/>
          </p:nvPicPr>
          <p:blipFill rotWithShape="1">
            <a:blip r:embed="rId4">
              <a:alphaModFix/>
            </a:blip>
            <a:srcRect b="1719" l="0" r="0" t="1728"/>
            <a:stretch/>
          </p:blipFill>
          <p:spPr>
            <a:xfrm>
              <a:off x="0" y="0"/>
              <a:ext cx="5524500" cy="4000500"/>
            </a:xfrm>
            <a:prstGeom prst="roundRect">
              <a:avLst>
                <a:gd fmla="val 3809" name="adj"/>
              </a:avLst>
            </a:prstGeom>
            <a:noFill/>
            <a:ln>
              <a:noFill/>
            </a:ln>
          </p:spPr>
        </p:pic>
        <p:sp>
          <p:nvSpPr>
            <p:cNvPr id="95" name="Google Shape;95;p14"/>
            <p:cNvSpPr/>
            <p:nvPr/>
          </p:nvSpPr>
          <p:spPr>
            <a:xfrm>
              <a:off x="0" y="0"/>
              <a:ext cx="5524500" cy="4000500"/>
            </a:xfrm>
            <a:prstGeom prst="roundRect">
              <a:avLst>
                <a:gd fmla="val 3809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4"/>
          <p:cNvSpPr/>
          <p:nvPr/>
        </p:nvSpPr>
        <p:spPr>
          <a:xfrm>
            <a:off x="571500" y="4317334"/>
            <a:ext cx="57300" cy="1047900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57150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Overview of the Hands-On Session</a:t>
            </a:r>
            <a:endParaRPr b="1" sz="3200">
              <a:solidFill>
                <a:srgbClr val="0F172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1524000"/>
            <a:ext cx="49530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Experience source-grounded pedagogy first-hand through active document ingestion and review generation.</a:t>
            </a:r>
            <a:endParaRPr b="0" sz="1800">
              <a:solidFill>
                <a:srgbClr val="0F172A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667000"/>
            <a:ext cx="4953000" cy="120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Participants will navigate from the initial interface setup to uploading course materials, querying structural outputs, and verifying inline citations.</a:t>
            </a:r>
            <a:endParaRPr b="0" sz="19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72000" y="4625734"/>
            <a:ext cx="43815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Objective:</a:t>
            </a:r>
            <a:r>
              <a:rPr b="0" lang="en-US" sz="1400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Master the end-to-end studio workflow to reliably generate custom educational artifacts.</a:t>
            </a:r>
            <a:endParaRPr b="1" sz="14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Step 1: Upload Syllabus &amp; References</a:t>
            </a:r>
            <a:endParaRPr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571500" y="1714500"/>
            <a:ext cx="3429000" cy="4000500"/>
            <a:chOff x="0" y="0"/>
            <a:chExt cx="3429000" cy="4000500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" name="Google Shape;109;p15"/>
            <p:cNvGrpSpPr/>
            <p:nvPr/>
          </p:nvGrpSpPr>
          <p:grpSpPr>
            <a:xfrm>
              <a:off x="285750" y="285750"/>
              <a:ext cx="533400" cy="568452"/>
              <a:chOff x="0" y="0"/>
              <a:chExt cx="533400" cy="568452"/>
            </a:xfrm>
          </p:grpSpPr>
          <p:sp>
            <p:nvSpPr>
              <p:cNvPr id="110" name="Google Shape;110;p15"/>
              <p:cNvSpPr/>
              <p:nvPr/>
            </p:nvSpPr>
            <p:spPr>
              <a:xfrm>
                <a:off x="0" y="0"/>
                <a:ext cx="533400" cy="533400"/>
              </a:xfrm>
              <a:prstGeom prst="roundRect">
                <a:avLst>
                  <a:gd fmla="val 21428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 txBox="1"/>
              <p:nvPr/>
            </p:nvSpPr>
            <p:spPr>
              <a:xfrm>
                <a:off x="0" y="35052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369A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explore</a:t>
                </a:r>
                <a:endParaRPr sz="2400">
                  <a:solidFill>
                    <a:srgbClr val="0369A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12" name="Google Shape;112;p15"/>
            <p:cNvSpPr txBox="1"/>
            <p:nvPr/>
          </p:nvSpPr>
          <p:spPr>
            <a:xfrm>
              <a:off x="2571750" y="28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BD5E1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01</a:t>
              </a:r>
              <a:endParaRPr b="0" sz="1600">
                <a:solidFill>
                  <a:srgbClr val="CBD5E1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285750" y="10477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utfit"/>
                  <a:ea typeface="Outfit"/>
                  <a:cs typeface="Outfit"/>
                  <a:sym typeface="Outfit"/>
                </a:rPr>
                <a:t>Open NotebookLM</a:t>
              </a:r>
              <a:endParaRPr b="1" sz="1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Navigate to the main workspace interface in your web browser.</a:t>
              </a:r>
              <a:endParaRPr b="0" sz="21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4381500" y="1714500"/>
            <a:ext cx="3429000" cy="4000500"/>
            <a:chOff x="0" y="0"/>
            <a:chExt cx="3429000" cy="4000500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" name="Google Shape;116;p15"/>
            <p:cNvGrpSpPr/>
            <p:nvPr/>
          </p:nvGrpSpPr>
          <p:grpSpPr>
            <a:xfrm>
              <a:off x="285750" y="285750"/>
              <a:ext cx="533400" cy="568452"/>
              <a:chOff x="0" y="0"/>
              <a:chExt cx="533400" cy="568452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0" y="0"/>
                <a:ext cx="533400" cy="533400"/>
              </a:xfrm>
              <a:prstGeom prst="roundRect">
                <a:avLst>
                  <a:gd fmla="val 21428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 txBox="1"/>
              <p:nvPr/>
            </p:nvSpPr>
            <p:spPr>
              <a:xfrm>
                <a:off x="0" y="35052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D4ED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note_add</a:t>
                </a:r>
                <a:endParaRPr sz="24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19" name="Google Shape;119;p15"/>
            <p:cNvSpPr txBox="1"/>
            <p:nvPr/>
          </p:nvSpPr>
          <p:spPr>
            <a:xfrm>
              <a:off x="2571750" y="28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BD5E1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02</a:t>
              </a:r>
              <a:endParaRPr b="0" sz="1600">
                <a:solidFill>
                  <a:srgbClr val="CBD5E1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285750" y="10477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utfit"/>
                  <a:ea typeface="Outfit"/>
                  <a:cs typeface="Outfit"/>
                  <a:sym typeface="Outfit"/>
                </a:rPr>
                <a:t>Create a New Notebook</a:t>
              </a:r>
              <a:endParaRPr b="1" sz="1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Initialize a dedicated container for your course or module</a:t>
              </a:r>
              <a:r>
                <a:rPr b="0" lang="en-US" sz="12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.</a:t>
              </a:r>
              <a:endParaRPr b="0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21" name="Google Shape;121;p15"/>
          <p:cNvGrpSpPr/>
          <p:nvPr/>
        </p:nvGrpSpPr>
        <p:grpSpPr>
          <a:xfrm>
            <a:off x="8191500" y="1714500"/>
            <a:ext cx="3429000" cy="4000500"/>
            <a:chOff x="0" y="0"/>
            <a:chExt cx="3429000" cy="4000500"/>
          </a:xfrm>
        </p:grpSpPr>
        <p:sp>
          <p:nvSpPr>
            <p:cNvPr id="122" name="Google Shape;122;p15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" name="Google Shape;123;p15"/>
            <p:cNvGrpSpPr/>
            <p:nvPr/>
          </p:nvGrpSpPr>
          <p:grpSpPr>
            <a:xfrm>
              <a:off x="285750" y="285750"/>
              <a:ext cx="533400" cy="568452"/>
              <a:chOff x="0" y="0"/>
              <a:chExt cx="533400" cy="568452"/>
            </a:xfrm>
          </p:grpSpPr>
          <p:sp>
            <p:nvSpPr>
              <p:cNvPr id="124" name="Google Shape;124;p15"/>
              <p:cNvSpPr/>
              <p:nvPr/>
            </p:nvSpPr>
            <p:spPr>
              <a:xfrm>
                <a:off x="0" y="0"/>
                <a:ext cx="533400" cy="533400"/>
              </a:xfrm>
              <a:prstGeom prst="roundRect">
                <a:avLst>
                  <a:gd fmla="val 21428" name="adj"/>
                </a:avLst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5"/>
              <p:cNvSpPr txBox="1"/>
              <p:nvPr/>
            </p:nvSpPr>
            <p:spPr>
              <a:xfrm>
                <a:off x="0" y="35052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5803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cloud_upload</a:t>
                </a:r>
                <a:endParaRPr sz="24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26" name="Google Shape;126;p15"/>
            <p:cNvSpPr txBox="1"/>
            <p:nvPr/>
          </p:nvSpPr>
          <p:spPr>
            <a:xfrm>
              <a:off x="2571750" y="28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BD5E1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03</a:t>
              </a:r>
              <a:endParaRPr b="0" sz="1600">
                <a:solidFill>
                  <a:srgbClr val="CBD5E1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285750" y="10477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utfit"/>
                  <a:ea typeface="Outfit"/>
                  <a:cs typeface="Outfit"/>
                  <a:sym typeface="Outfit"/>
                </a:rPr>
                <a:t>Upload Source Files</a:t>
              </a:r>
              <a:endParaRPr b="1" sz="1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Select and upload your course syllabus or core reference PDFs.</a:t>
              </a:r>
              <a:endParaRPr b="0" sz="21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62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Step 2: Generate Study Guide &amp; Summary</a:t>
            </a:r>
            <a:endParaRPr/>
          </a:p>
        </p:txBody>
      </p:sp>
      <p:grpSp>
        <p:nvGrpSpPr>
          <p:cNvPr id="134" name="Google Shape;134;p16"/>
          <p:cNvGrpSpPr/>
          <p:nvPr/>
        </p:nvGrpSpPr>
        <p:grpSpPr>
          <a:xfrm>
            <a:off x="571500" y="1714500"/>
            <a:ext cx="3429000" cy="4000500"/>
            <a:chOff x="0" y="0"/>
            <a:chExt cx="3429000" cy="4000500"/>
          </a:xfrm>
        </p:grpSpPr>
        <p:sp>
          <p:nvSpPr>
            <p:cNvPr id="135" name="Google Shape;135;p1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" name="Google Shape;136;p16"/>
            <p:cNvGrpSpPr/>
            <p:nvPr/>
          </p:nvGrpSpPr>
          <p:grpSpPr>
            <a:xfrm>
              <a:off x="285750" y="285750"/>
              <a:ext cx="533400" cy="603504"/>
              <a:chOff x="0" y="0"/>
              <a:chExt cx="533400" cy="603504"/>
            </a:xfrm>
          </p:grpSpPr>
          <p:sp>
            <p:nvSpPr>
              <p:cNvPr id="137" name="Google Shape;137;p16"/>
              <p:cNvSpPr/>
              <p:nvPr/>
            </p:nvSpPr>
            <p:spPr>
              <a:xfrm>
                <a:off x="0" y="0"/>
                <a:ext cx="533400" cy="533400"/>
              </a:xfrm>
              <a:prstGeom prst="roundRect">
                <a:avLst>
                  <a:gd fmla="val 21428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6"/>
              <p:cNvSpPr txBox="1"/>
              <p:nvPr/>
            </p:nvSpPr>
            <p:spPr>
              <a:xfrm>
                <a:off x="0" y="70104"/>
                <a:ext cx="533400" cy="533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369A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edit_note</a:t>
                </a:r>
                <a:endParaRPr sz="2400">
                  <a:solidFill>
                    <a:srgbClr val="0369A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39" name="Google Shape;139;p16"/>
            <p:cNvSpPr txBox="1"/>
            <p:nvPr/>
          </p:nvSpPr>
          <p:spPr>
            <a:xfrm>
              <a:off x="2571750" y="285750"/>
              <a:ext cx="571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BD5E1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01</a:t>
              </a:r>
              <a:endParaRPr b="0" sz="1600">
                <a:solidFill>
                  <a:srgbClr val="CBD5E1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285750" y="1047750"/>
              <a:ext cx="2857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utfit"/>
                  <a:ea typeface="Outfit"/>
                  <a:cs typeface="Outfit"/>
                  <a:sym typeface="Outfit"/>
                </a:rPr>
                <a:t>Formulate Prompts</a:t>
              </a:r>
              <a:endParaRPr b="1" sz="1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Prompt the system directly to draft customized review questions targeting specific learning outcomes.</a:t>
              </a:r>
              <a:endParaRPr b="0" sz="2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4381500" y="1714500"/>
            <a:ext cx="3429000" cy="4000500"/>
            <a:chOff x="0" y="0"/>
            <a:chExt cx="3429000" cy="4000500"/>
          </a:xfrm>
        </p:grpSpPr>
        <p:sp>
          <p:nvSpPr>
            <p:cNvPr id="142" name="Google Shape;142;p1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" name="Google Shape;143;p16"/>
            <p:cNvGrpSpPr/>
            <p:nvPr/>
          </p:nvGrpSpPr>
          <p:grpSpPr>
            <a:xfrm>
              <a:off x="285750" y="285750"/>
              <a:ext cx="533400" cy="603504"/>
              <a:chOff x="0" y="0"/>
              <a:chExt cx="533400" cy="603504"/>
            </a:xfrm>
          </p:grpSpPr>
          <p:sp>
            <p:nvSpPr>
              <p:cNvPr id="144" name="Google Shape;144;p16"/>
              <p:cNvSpPr/>
              <p:nvPr/>
            </p:nvSpPr>
            <p:spPr>
              <a:xfrm>
                <a:off x="0" y="0"/>
                <a:ext cx="533400" cy="533400"/>
              </a:xfrm>
              <a:prstGeom prst="roundRect">
                <a:avLst>
                  <a:gd fmla="val 21428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6"/>
              <p:cNvSpPr txBox="1"/>
              <p:nvPr/>
            </p:nvSpPr>
            <p:spPr>
              <a:xfrm>
                <a:off x="0" y="70104"/>
                <a:ext cx="533400" cy="533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D4ED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description</a:t>
                </a:r>
                <a:endParaRPr sz="24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6" name="Google Shape;146;p16"/>
            <p:cNvSpPr txBox="1"/>
            <p:nvPr/>
          </p:nvSpPr>
          <p:spPr>
            <a:xfrm>
              <a:off x="2571750" y="285750"/>
              <a:ext cx="571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BD5E1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02</a:t>
              </a:r>
              <a:endParaRPr b="0" sz="1600">
                <a:solidFill>
                  <a:srgbClr val="CBD5E1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285750" y="1047750"/>
              <a:ext cx="2857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utfit"/>
                  <a:ea typeface="Outfit"/>
                  <a:cs typeface="Outfit"/>
                  <a:sym typeface="Outfit"/>
                </a:rPr>
                <a:t>Structural Summary</a:t>
              </a:r>
              <a:endParaRPr b="1" sz="1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Request a concise structural synthesis based strictly on your uploaded source material.</a:t>
              </a:r>
              <a:endParaRPr b="0" sz="2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48" name="Google Shape;148;p16"/>
          <p:cNvGrpSpPr/>
          <p:nvPr/>
        </p:nvGrpSpPr>
        <p:grpSpPr>
          <a:xfrm>
            <a:off x="8191500" y="1714500"/>
            <a:ext cx="3429000" cy="4000500"/>
            <a:chOff x="0" y="0"/>
            <a:chExt cx="3429000" cy="4000500"/>
          </a:xfrm>
        </p:grpSpPr>
        <p:sp>
          <p:nvSpPr>
            <p:cNvPr id="149" name="Google Shape;149;p1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" name="Google Shape;150;p16"/>
            <p:cNvGrpSpPr/>
            <p:nvPr/>
          </p:nvGrpSpPr>
          <p:grpSpPr>
            <a:xfrm>
              <a:off x="285750" y="285750"/>
              <a:ext cx="533400" cy="603504"/>
              <a:chOff x="0" y="0"/>
              <a:chExt cx="533400" cy="603504"/>
            </a:xfrm>
          </p:grpSpPr>
          <p:sp>
            <p:nvSpPr>
              <p:cNvPr id="151" name="Google Shape;151;p16"/>
              <p:cNvSpPr/>
              <p:nvPr/>
            </p:nvSpPr>
            <p:spPr>
              <a:xfrm>
                <a:off x="0" y="0"/>
                <a:ext cx="533400" cy="533400"/>
              </a:xfrm>
              <a:prstGeom prst="roundRect">
                <a:avLst>
                  <a:gd fmla="val 21428" name="adj"/>
                </a:avLst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6"/>
              <p:cNvSpPr txBox="1"/>
              <p:nvPr/>
            </p:nvSpPr>
            <p:spPr>
              <a:xfrm>
                <a:off x="0" y="70104"/>
                <a:ext cx="533400" cy="533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5803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sz="24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53" name="Google Shape;153;p16"/>
            <p:cNvSpPr txBox="1"/>
            <p:nvPr/>
          </p:nvSpPr>
          <p:spPr>
            <a:xfrm>
              <a:off x="2571750" y="285750"/>
              <a:ext cx="571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BD5E1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03</a:t>
              </a:r>
              <a:endParaRPr b="0" sz="1600">
                <a:solidFill>
                  <a:srgbClr val="CBD5E1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154" name="Google Shape;154;p16"/>
            <p:cNvSpPr txBox="1"/>
            <p:nvPr/>
          </p:nvSpPr>
          <p:spPr>
            <a:xfrm>
              <a:off x="285750" y="1047750"/>
              <a:ext cx="28575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utfit"/>
                  <a:ea typeface="Outfit"/>
                  <a:cs typeface="Outfit"/>
                  <a:sym typeface="Outfit"/>
                </a:rPr>
                <a:t>Verify Citations</a:t>
              </a:r>
              <a:endParaRPr b="1" sz="1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2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Check inline page and paragraph references to guarantee zero hallucinations in the output.</a:t>
              </a:r>
              <a:endParaRPr b="0" sz="2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Step 3: Active Timing &amp; Live Testing</a:t>
            </a:r>
            <a:endParaRPr/>
          </a:p>
        </p:txBody>
      </p:sp>
      <p:grpSp>
        <p:nvGrpSpPr>
          <p:cNvPr id="161" name="Google Shape;161;p17"/>
          <p:cNvGrpSpPr/>
          <p:nvPr/>
        </p:nvGrpSpPr>
        <p:grpSpPr>
          <a:xfrm>
            <a:off x="571500" y="1714500"/>
            <a:ext cx="3429000" cy="4000500"/>
            <a:chOff x="0" y="0"/>
            <a:chExt cx="3429000" cy="4000500"/>
          </a:xfrm>
        </p:grpSpPr>
        <p:sp>
          <p:nvSpPr>
            <p:cNvPr id="162" name="Google Shape;162;p17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3" name="Google Shape;163;p17"/>
            <p:cNvGrpSpPr/>
            <p:nvPr/>
          </p:nvGrpSpPr>
          <p:grpSpPr>
            <a:xfrm>
              <a:off x="285750" y="285750"/>
              <a:ext cx="533400" cy="568452"/>
              <a:chOff x="0" y="0"/>
              <a:chExt cx="533400" cy="568452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0" y="0"/>
                <a:ext cx="533400" cy="533400"/>
              </a:xfrm>
              <a:prstGeom prst="roundRect">
                <a:avLst>
                  <a:gd fmla="val 21428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7"/>
              <p:cNvSpPr txBox="1"/>
              <p:nvPr/>
            </p:nvSpPr>
            <p:spPr>
              <a:xfrm>
                <a:off x="0" y="35052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369A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timer</a:t>
                </a:r>
                <a:endParaRPr sz="2400">
                  <a:solidFill>
                    <a:srgbClr val="0369A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66" name="Google Shape;166;p17"/>
            <p:cNvSpPr txBox="1"/>
            <p:nvPr/>
          </p:nvSpPr>
          <p:spPr>
            <a:xfrm>
              <a:off x="2571750" y="28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BD5E1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01</a:t>
              </a:r>
              <a:endParaRPr b="0" sz="1600">
                <a:solidFill>
                  <a:srgbClr val="CBD5E1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285750" y="10477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utfit"/>
                  <a:ea typeface="Outfit"/>
                  <a:cs typeface="Outfit"/>
                  <a:sym typeface="Outfit"/>
                </a:rPr>
                <a:t>10-Minute Timer</a:t>
              </a:r>
              <a:endParaRPr b="1" sz="1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Allocate dedicated time for live testing and artifact creation.</a:t>
              </a:r>
              <a:endParaRPr b="0" sz="21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4381500" y="1714500"/>
            <a:ext cx="3429000" cy="4000500"/>
            <a:chOff x="0" y="0"/>
            <a:chExt cx="3429000" cy="4000500"/>
          </a:xfrm>
        </p:grpSpPr>
        <p:sp>
          <p:nvSpPr>
            <p:cNvPr id="169" name="Google Shape;169;p17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17"/>
            <p:cNvGrpSpPr/>
            <p:nvPr/>
          </p:nvGrpSpPr>
          <p:grpSpPr>
            <a:xfrm>
              <a:off x="285750" y="285750"/>
              <a:ext cx="533400" cy="568452"/>
              <a:chOff x="0" y="0"/>
              <a:chExt cx="533400" cy="568452"/>
            </a:xfrm>
          </p:grpSpPr>
          <p:sp>
            <p:nvSpPr>
              <p:cNvPr id="171" name="Google Shape;171;p17"/>
              <p:cNvSpPr/>
              <p:nvPr/>
            </p:nvSpPr>
            <p:spPr>
              <a:xfrm>
                <a:off x="0" y="0"/>
                <a:ext cx="533400" cy="533400"/>
              </a:xfrm>
              <a:prstGeom prst="roundRect">
                <a:avLst>
                  <a:gd fmla="val 21428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 txBox="1"/>
              <p:nvPr/>
            </p:nvSpPr>
            <p:spPr>
              <a:xfrm>
                <a:off x="0" y="35052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D4ED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article</a:t>
                </a:r>
                <a:endParaRPr sz="2400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73" name="Google Shape;173;p17"/>
            <p:cNvSpPr txBox="1"/>
            <p:nvPr/>
          </p:nvSpPr>
          <p:spPr>
            <a:xfrm>
              <a:off x="2571750" y="28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BD5E1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02</a:t>
              </a:r>
              <a:endParaRPr b="0" sz="1600">
                <a:solidFill>
                  <a:srgbClr val="CBD5E1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285750" y="10477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utfit"/>
                  <a:ea typeface="Outfit"/>
                  <a:cs typeface="Outfit"/>
                  <a:sym typeface="Outfit"/>
                </a:rPr>
                <a:t>Lab Documentation</a:t>
              </a:r>
              <a:endParaRPr b="1" sz="1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Follow the step-by-step lab instructions provided in your guide.</a:t>
              </a:r>
              <a:endParaRPr b="0" sz="21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8191500" y="1714500"/>
            <a:ext cx="3429000" cy="4000500"/>
            <a:chOff x="0" y="0"/>
            <a:chExt cx="3429000" cy="40005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7" name="Google Shape;177;p17"/>
            <p:cNvGrpSpPr/>
            <p:nvPr/>
          </p:nvGrpSpPr>
          <p:grpSpPr>
            <a:xfrm>
              <a:off x="285750" y="285750"/>
              <a:ext cx="533400" cy="568452"/>
              <a:chOff x="0" y="0"/>
              <a:chExt cx="533400" cy="568452"/>
            </a:xfrm>
          </p:grpSpPr>
          <p:sp>
            <p:nvSpPr>
              <p:cNvPr id="178" name="Google Shape;178;p17"/>
              <p:cNvSpPr/>
              <p:nvPr/>
            </p:nvSpPr>
            <p:spPr>
              <a:xfrm>
                <a:off x="0" y="0"/>
                <a:ext cx="533400" cy="533400"/>
              </a:xfrm>
              <a:prstGeom prst="roundRect">
                <a:avLst>
                  <a:gd fmla="val 21428" name="adj"/>
                </a:avLst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7"/>
              <p:cNvSpPr txBox="1"/>
              <p:nvPr/>
            </p:nvSpPr>
            <p:spPr>
              <a:xfrm>
                <a:off x="0" y="35052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5803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help</a:t>
                </a:r>
                <a:endParaRPr sz="240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80" name="Google Shape;180;p17"/>
            <p:cNvSpPr txBox="1"/>
            <p:nvPr/>
          </p:nvSpPr>
          <p:spPr>
            <a:xfrm>
              <a:off x="2571750" y="28575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BD5E1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03</a:t>
              </a:r>
              <a:endParaRPr b="0" sz="1600">
                <a:solidFill>
                  <a:srgbClr val="CBD5E1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285750" y="10477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utfit"/>
                  <a:ea typeface="Outfit"/>
                  <a:cs typeface="Outfit"/>
                  <a:sym typeface="Outfit"/>
                </a:rPr>
                <a:t>Instructor Support</a:t>
              </a:r>
              <a:endParaRPr b="1" sz="1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Raise your hand as instructors walk around to assist with queries.</a:t>
              </a:r>
              <a:endParaRPr b="0" sz="21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162300"/>
            <a:ext cx="528637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Additional Recommendations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677025" y="3448050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D4ED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 Tip: Clean document structuring with clear headings yields significantly more precise NotebookLM summaries.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904875" y="2751087"/>
            <a:ext cx="49530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Format Readiness:</a:t>
            </a:r>
            <a:r>
              <a:rPr b="0" i="0" lang="en-US" sz="16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Ensure your documents are cleanly saved in PDF or compatible reference format before starting the timer.</a:t>
            </a:r>
            <a:endParaRPr sz="1600"/>
          </a:p>
        </p:txBody>
      </p:sp>
      <p:sp>
        <p:nvSpPr>
          <p:cNvPr id="191" name="Google Shape;191;p18"/>
          <p:cNvSpPr txBox="1"/>
          <p:nvPr/>
        </p:nvSpPr>
        <p:spPr>
          <a:xfrm>
            <a:off x="904875" y="4179455"/>
            <a:ext cx="49530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Cross-Verification:</a:t>
            </a:r>
            <a:r>
              <a:rPr b="0" i="0" lang="en-US" sz="16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Always check generated study guides against original source passages to maximize instructional trust.</a:t>
            </a:r>
            <a:endParaRPr sz="1600"/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844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4121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